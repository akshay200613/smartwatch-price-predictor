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Teko SemiBold"/>
      <p:regular r:id="rId20"/>
      <p:bold r:id="rId21"/>
    </p:embeddedFont>
    <p:embeddedFont>
      <p:font typeface="Teko"/>
      <p:regular r:id="rId22"/>
      <p:bold r:id="rId23"/>
    </p:embeddedFont>
    <p:embeddedFont>
      <p:font typeface="Inter Light"/>
      <p:regular r:id="rId24"/>
      <p:bold r:id="rId25"/>
      <p:italic r:id="rId26"/>
      <p:boldItalic r:id="rId27"/>
    </p:embeddedFont>
    <p:embeddedFont>
      <p:font typeface="Inter SemiBold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Teko Light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507326-EDDF-4B44-81B2-28D85D26B5CB}">
  <a:tblStyle styleId="{0F507326-EDDF-4B44-81B2-28D85D26B5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ekoSemiBold-regular.fntdata"/><Relationship Id="rId22" Type="http://schemas.openxmlformats.org/officeDocument/2006/relationships/font" Target="fonts/Teko-regular.fntdata"/><Relationship Id="rId21" Type="http://schemas.openxmlformats.org/officeDocument/2006/relationships/font" Target="fonts/TekoSemiBold-bold.fntdata"/><Relationship Id="rId24" Type="http://schemas.openxmlformats.org/officeDocument/2006/relationships/font" Target="fonts/InterLight-regular.fntdata"/><Relationship Id="rId23" Type="http://schemas.openxmlformats.org/officeDocument/2006/relationships/font" Target="fonts/Tek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italic.fntdata"/><Relationship Id="rId25" Type="http://schemas.openxmlformats.org/officeDocument/2006/relationships/font" Target="fonts/InterLight-bold.fntdata"/><Relationship Id="rId28" Type="http://schemas.openxmlformats.org/officeDocument/2006/relationships/font" Target="fonts/InterSemiBold-regular.fntdata"/><Relationship Id="rId27" Type="http://schemas.openxmlformats.org/officeDocument/2006/relationships/font" Target="fonts/Inter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TekoLight-bold.fntdata"/><Relationship Id="rId14" Type="http://schemas.openxmlformats.org/officeDocument/2006/relationships/slide" Target="slides/slide8.xml"/><Relationship Id="rId36" Type="http://schemas.openxmlformats.org/officeDocument/2006/relationships/font" Target="fonts/TekoLigh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60558" y="2143125"/>
            <a:ext cx="7070883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Teko"/>
                <a:ea typeface="Teko"/>
                <a:cs typeface="Teko"/>
                <a:sym typeface="Teko"/>
              </a:rPr>
              <a:t>FITNESS TRACKER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500" u="none" cap="none" strike="noStrike">
                <a:solidFill>
                  <a:srgbClr val="A3E635"/>
                </a:solidFill>
                <a:latin typeface="Teko"/>
                <a:ea typeface="Teko"/>
                <a:cs typeface="Teko"/>
                <a:sym typeface="Teko"/>
              </a:rPr>
              <a:t>PRICE PREDICTION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28912" y="4048125"/>
            <a:ext cx="6734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Teko Light"/>
                <a:ea typeface="Teko Light"/>
                <a:cs typeface="Teko Light"/>
                <a:sym typeface="Teko Light"/>
              </a:rPr>
              <a:t>A REGRESSION ANALYSIS USING KAGGLE ECOMMERCE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88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2800350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The goal of this project is to build a robust regression model to predict the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Selling Price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of fitness trackers and smartwatches.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383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52500" y="42957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Identify key price drivers (Brand, Specs).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47529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Compare Linear, Ridge, and Lasso performance.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52101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Understand market positioning through data.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29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786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2435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PROJECT OBJECTIVES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90737"/>
            <a:ext cx="348615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90737"/>
            <a:ext cx="348615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90737"/>
            <a:ext cx="3486150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76300" y="3043237"/>
            <a:ext cx="9101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IDENTITY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76300" y="3786187"/>
            <a:ext cx="28956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Brand Name: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(e.g., Apple, Garmin)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Device Type: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FitnessBand vs Smartwatch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Name: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Specific product variant.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8200" y="3043237"/>
            <a:ext cx="6400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SPECS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8200" y="3786187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Display: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AMOLED, LCD, etc.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Battery Life: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Average days.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Strap Material: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Silicon, Leather, etc.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0100" y="3043237"/>
            <a:ext cx="74009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TARGET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0100" y="3786187"/>
            <a:ext cx="28956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Selling Price: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The discounted price (Target Variable).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Rating: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User score (out of 5).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Reviews: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Number of reviews.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4241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424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4241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THE DATASET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009650" y="2728912"/>
            <a:ext cx="839524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Missing Values: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Imputed missing values in 'Rating' with the median and 'Display' with mode.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81025" y="2728912"/>
            <a:ext cx="190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009650" y="3548062"/>
            <a:ext cx="839524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Categorical Encoding: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Applied One-Hot Encoding to 'Brand Name' (creating columns like Brand_Apple, Brand_Fitbit) and 'Device Type'.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3548062"/>
            <a:ext cx="190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009650" y="4367212"/>
            <a:ext cx="839524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Scaling: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Standardized numerical features (Battery Life, Reviews) using StandardScaler to ensure regularization works correctly.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4367212"/>
            <a:ext cx="190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009650" y="5186362"/>
            <a:ext cx="83952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Drop Columns: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Removed 'Model Name' due to high cardinality.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5186362"/>
            <a:ext cx="19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75" y="2757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35766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" y="4395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075" y="52149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DATA PREPROCESSING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88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2383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381750" y="2395537"/>
            <a:ext cx="549068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KEY INSIGHTS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381750" y="3043237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Price vs. Rating: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Surprisingly, higher ratings do not strictly correlate with higher prices. Budget bands often have high satisfaction.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381750" y="4195762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Brand Dominance: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Apple and Garmin outliers significantly skew the price distribution rightward.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5033962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Display Tech: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AMOLED screens are a clear indicator of premium pricing tiers compared to LCD/TFT.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EXPLORATORY ANALYSIS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88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26693"/>
            <a:ext cx="5229225" cy="6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81025" y="2226468"/>
            <a:ext cx="549068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THE BASELINE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81025" y="2874168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We started with simple OLS (Ordinary Least Squares) regression. It assumes a linear relationship between features and price.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81025" y="4888706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Interpretable coefficients.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Prone to overfitting if features are highly correlated (Multicollinearity).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238375"/>
            <a:ext cx="52101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5788" y="4226718"/>
            <a:ext cx="2819548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MODEL 1: LINEAR REGRESSION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88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32051"/>
            <a:ext cx="5229225" cy="956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2383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381750" y="2231826"/>
            <a:ext cx="549068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HANDLING MULTICOLLINEARITY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381750" y="2879526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Ridge adds a penalty equal to the square of the magnitude of coefficients. This shrinks coefficients towards zero but not exactly to zero.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381750" y="5197673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Essential when features like 'Battery Life' and 'Display Type' might share information.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003" y="4232076"/>
            <a:ext cx="2118568" cy="55602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MODEL 2: RIDGE REGRESSION (L2)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88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89214"/>
            <a:ext cx="5229225" cy="9560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81025" y="2074664"/>
            <a:ext cx="549068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Teko"/>
                <a:ea typeface="Teko"/>
                <a:cs typeface="Teko"/>
                <a:sym typeface="Teko"/>
              </a:rPr>
              <a:t>FEATURE SELECTION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2722364"/>
            <a:ext cx="522922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Lasso adds a penalty equal to the absolute value of the magnitude of coefficients. This can eliminate least important features by shrinking their coefficients to exactly zero.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5354835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It helps identify that specific Strap Colors or minor specs have zero impact on price.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238375"/>
            <a:ext cx="52101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1646" y="4389239"/>
            <a:ext cx="2427833" cy="55602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MODEL 3: LASSO REGRESSION (L1)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21"/>
          <p:cNvGraphicFramePr/>
          <p:nvPr/>
        </p:nvGraphicFramePr>
        <p:xfrm>
          <a:off x="581025" y="2309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{0F507326-EDDF-4B44-81B2-28D85D26B5CB}</a:tableStyleId>
              </a:tblPr>
              <a:tblGrid>
                <a:gridCol w="4186100"/>
                <a:gridCol w="3491350"/>
                <a:gridCol w="1719550"/>
                <a:gridCol w="1632950"/>
              </a:tblGrid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A3E635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A3E635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R-Squared (Test)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A3E635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RMSE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A3E635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MAE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$45.20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$32.10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Ridge Regression (L2)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$44.80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$31.80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Lasso Regression (L1)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$45.05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$31.95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21"/>
          <p:cNvSpPr txBox="1"/>
          <p:nvPr/>
        </p:nvSpPr>
        <p:spPr>
          <a:xfrm>
            <a:off x="581025" y="5119687"/>
            <a:ext cx="11029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Verdict: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Ridge Regression performed slightly better, indicating that while we have many features, most of them contribute somewhat to the price (dense model) rather than just a few key ones.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81025" y="2938462"/>
            <a:ext cx="4186088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767113" y="2938462"/>
            <a:ext cx="3491358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8258472" y="2938462"/>
            <a:ext cx="171956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978032" y="2938462"/>
            <a:ext cx="1632942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81025" y="3476625"/>
            <a:ext cx="41860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767113" y="3476625"/>
            <a:ext cx="34913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258472" y="3476625"/>
            <a:ext cx="17195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978032" y="3476625"/>
            <a:ext cx="1632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81025" y="4000500"/>
            <a:ext cx="41860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767113" y="4000500"/>
            <a:ext cx="34913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8258472" y="4000500"/>
            <a:ext cx="17195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9978032" y="4000500"/>
            <a:ext cx="1632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MODEL COMPARISON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0725"/>
            <a:ext cx="110299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WHAT DRIVES PRICE?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81025" y="15906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771525" y="771525"/>
            <a:ext cx="4790598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CONCLUSION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771525" y="1781175"/>
            <a:ext cx="45624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771525" y="2414587"/>
            <a:ext cx="45624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Our analysis confirms that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Brand Equity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is the single largest determinant of price in the fitness tracker market, often outweighing raw technical specifications.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771525" y="4281487"/>
            <a:ext cx="4562475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While Ridge Regression offered the best predictive accuracy, all three models showed strong R-squared values (~0.89), suggesting the market pricing is rational and predictable based on the available data.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4300537" y="1909762"/>
            <a:ext cx="3770471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A3E635"/>
                </a:solidFill>
                <a:latin typeface="Teko"/>
                <a:ea typeface="Teko"/>
                <a:cs typeface="Teko"/>
                <a:sym typeface="Teko"/>
              </a:rPr>
              <a:t>Q&amp;A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300537" y="3757612"/>
            <a:ext cx="3590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Thank you for your time.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300537" y="4281487"/>
            <a:ext cx="35909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Teko Light"/>
                <a:ea typeface="Teko Light"/>
                <a:cs typeface="Teko Light"/>
                <a:sym typeface="Teko Light"/>
              </a:rPr>
              <a:t>QUESTIONS ABOUT THE MODELS OR DATA?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581025" y="173831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81025" y="250983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81025" y="328136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81025" y="405288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81025" y="4824412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81025" y="25003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81025" y="25003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81025" y="32718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81025" y="32718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81025" y="40433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81025" y="40433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81025" y="48148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81025" y="48148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81025" y="57578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81025" y="57578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811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76400" y="18883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https://img.freepik.com/premium-photo/fitness-tracker-smart-watch-black-black-background-3d-illustration_771335-28233.jpg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76400" y="21216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www.freepik.com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527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76400" y="265985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https://cdn.vectorstock.com/i/1000v/55/65/data-visualization-kit-scatterplot-matrix-vector-33725565.jpg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76400" y="289321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www.vectorstock.com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242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76400" y="343138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https://media.geeksforgeeks.org/wp-content/uploads/20231129130431/11111111.png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76400" y="366474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www.geeksforgeeks.org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957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76400" y="42029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https://miro.medium.com/v2/resize:fit:1200/1*Tyu8vrwWsm0qJ4BhrSdAFA.png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76400" y="44362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medium.com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053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76400" y="496728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https://static.vecteezy.com/system/resources/previews/032/165/078/non_2x/abstract-futuristic-modern-dark-green-blue-with-shiny-geometric-green-and-blue-circle-lines-futuristic-technology-theme-design-for-poster-cover-banner-brochure-website-flyer-vector.jpg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76400" y="538638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www.vecteezy.com</a:t>
            </a:r>
            <a:endParaRPr/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910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76400" y="59174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https://www.tesa.com/en-us/files/images/202409/2/electronics-pcb-smartwatch-explosion-illustration-cms,11599581_crop16x9_18.jpg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76400" y="61507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www.tesa.com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81025" y="328612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Teko SemiBold"/>
                <a:ea typeface="Teko SemiBold"/>
                <a:cs typeface="Teko SemiBold"/>
                <a:sym typeface="Teko SemiBold"/>
              </a:rPr>
              <a:t>IMAGE SOURCES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81025" y="133826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